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Shortbranches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Forces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chart" Target="/ppt/charts/chart7.xml"/><Relationship Id="rId8" Type="http://schemas.openxmlformats.org/officeDocument/2006/relationships/chart" Target="/ppt/charts/chart8.xml"/><Relationship Id="rId9" Type="http://schemas.openxmlformats.org/officeDocument/2006/relationships/chart" Target="/ppt/charts/chart9.xml"/><Relationship Id="rId10" Type="http://schemas.openxmlformats.org/officeDocument/2006/relationships/chart" Target="/ppt/charts/chart10.xml"/><Relationship Id="rId11" Type="http://schemas.openxmlformats.org/officeDocument/2006/relationships/chart" Target="/ppt/charts/chart11.xml"/><Relationship Id="rId12" Type="http://schemas.openxmlformats.org/officeDocument/2006/relationships/chart" Target="/ppt/charts/chart12.xml"/><Relationship Id="rId13" Type="http://schemas.openxmlformats.org/officeDocument/2006/relationships/chart" Target="/ppt/charts/chart13.xm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45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PPA JUMPER AUDIT WEEK-40 (PHASE 6.5 GEOMETRY FITTED)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675120" y="45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Process Plant Area  |  Week 40 · 2026  |  Period: W40 (2026)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512064"/>
            <a:ext cx="19019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539496"/>
            <a:ext cx="190195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DRYER–CM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" y="667512"/>
            <a:ext cx="1901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4 jumpers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85416" y="512064"/>
            <a:ext cx="19019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85416" y="539496"/>
            <a:ext cx="190195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KILN–CTS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85416" y="667512"/>
            <a:ext cx="1901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3 jumpers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9664" y="512064"/>
            <a:ext cx="19019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9664" y="539496"/>
            <a:ext cx="190195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FURNACE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69664" y="667512"/>
            <a:ext cx="1901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0 jumpers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53912" y="512064"/>
            <a:ext cx="19019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539496"/>
            <a:ext cx="1901952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CONVERTER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53912" y="667512"/>
            <a:ext cx="19019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0 jumpers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" y="1005840"/>
            <a:ext cx="1901952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1005840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Dryer–CM (4 jumpers)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37744" y="123444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201168" y="1353312"/>
          <a:ext cx="1901952" cy="795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237744" y="2185416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22" name="Chart 1" descr=""/>
          <p:cNvGraphicFramePr/>
          <p:nvPr/>
        </p:nvGraphicFramePr>
        <p:xfrm>
          <a:off x="201168" y="2304288"/>
          <a:ext cx="1901952" cy="795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 19"/>
          <p:cNvSpPr/>
          <p:nvPr/>
        </p:nvSpPr>
        <p:spPr>
          <a:xfrm>
            <a:off x="237744" y="3136392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24" name="Chart 2" descr=""/>
          <p:cNvGraphicFramePr/>
          <p:nvPr/>
        </p:nvGraphicFramePr>
        <p:xfrm>
          <a:off x="201168" y="3255264"/>
          <a:ext cx="1901952" cy="795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Shape 20"/>
          <p:cNvSpPr/>
          <p:nvPr/>
        </p:nvSpPr>
        <p:spPr>
          <a:xfrm>
            <a:off x="2185416" y="1005840"/>
            <a:ext cx="1901952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185416" y="1005840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Kiln–CTS (3 jumpers)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221992" y="123444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28" name="Chart 3" descr=""/>
          <p:cNvGraphicFramePr/>
          <p:nvPr/>
        </p:nvGraphicFramePr>
        <p:xfrm>
          <a:off x="2185416" y="1353312"/>
          <a:ext cx="1901952" cy="795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9" name="Text 23"/>
          <p:cNvSpPr/>
          <p:nvPr/>
        </p:nvSpPr>
        <p:spPr>
          <a:xfrm>
            <a:off x="2221992" y="2185416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30" name="Chart 4" descr=""/>
          <p:cNvGraphicFramePr/>
          <p:nvPr/>
        </p:nvGraphicFramePr>
        <p:xfrm>
          <a:off x="2185416" y="2304288"/>
          <a:ext cx="1901952" cy="795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 24"/>
          <p:cNvSpPr/>
          <p:nvPr/>
        </p:nvSpPr>
        <p:spPr>
          <a:xfrm>
            <a:off x="2221992" y="3136392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32" name="Chart 5" descr=""/>
          <p:cNvGraphicFramePr/>
          <p:nvPr/>
        </p:nvGraphicFramePr>
        <p:xfrm>
          <a:off x="2185416" y="3255264"/>
          <a:ext cx="1901952" cy="795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Shape 25"/>
          <p:cNvSpPr/>
          <p:nvPr/>
        </p:nvSpPr>
        <p:spPr>
          <a:xfrm>
            <a:off x="4169664" y="1005840"/>
            <a:ext cx="1901952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4169664" y="1005840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Furnace (0 jumpers)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4206240" y="123444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36" name="Chart 6" descr=""/>
          <p:cNvGraphicFramePr/>
          <p:nvPr/>
        </p:nvGraphicFramePr>
        <p:xfrm>
          <a:off x="4169664" y="1353312"/>
          <a:ext cx="1901952" cy="795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37" name="Text 28"/>
          <p:cNvSpPr/>
          <p:nvPr/>
        </p:nvSpPr>
        <p:spPr>
          <a:xfrm>
            <a:off x="4206240" y="2185416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38" name="Chart 7" descr=""/>
          <p:cNvGraphicFramePr/>
          <p:nvPr/>
        </p:nvGraphicFramePr>
        <p:xfrm>
          <a:off x="4169664" y="2304288"/>
          <a:ext cx="1901952" cy="795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39" name="Text 29"/>
          <p:cNvSpPr/>
          <p:nvPr/>
        </p:nvSpPr>
        <p:spPr>
          <a:xfrm>
            <a:off x="4206240" y="3136392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40" name="Chart 8" descr=""/>
          <p:cNvGraphicFramePr/>
          <p:nvPr/>
        </p:nvGraphicFramePr>
        <p:xfrm>
          <a:off x="4169664" y="3255264"/>
          <a:ext cx="1901952" cy="795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41" name="Shape 30"/>
          <p:cNvSpPr/>
          <p:nvPr/>
        </p:nvSpPr>
        <p:spPr>
          <a:xfrm>
            <a:off x="6153912" y="1005840"/>
            <a:ext cx="1901952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6153912" y="1005840"/>
            <a:ext cx="1901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Converter (0 jumpers)</a:t>
            </a:r>
            <a:endParaRPr lang="en-US" sz="800" dirty="0"/>
          </a:p>
        </p:txBody>
      </p:sp>
      <p:sp>
        <p:nvSpPr>
          <p:cNvPr id="43" name="Text 32"/>
          <p:cNvSpPr/>
          <p:nvPr/>
        </p:nvSpPr>
        <p:spPr>
          <a:xfrm>
            <a:off x="6190488" y="123444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44" name="Chart 9" descr=""/>
          <p:cNvGraphicFramePr/>
          <p:nvPr/>
        </p:nvGraphicFramePr>
        <p:xfrm>
          <a:off x="6153912" y="1353312"/>
          <a:ext cx="1901952" cy="795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45" name="Text 33"/>
          <p:cNvSpPr/>
          <p:nvPr/>
        </p:nvSpPr>
        <p:spPr>
          <a:xfrm>
            <a:off x="6190488" y="2185416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46" name="Chart 10" descr=""/>
          <p:cNvGraphicFramePr/>
          <p:nvPr/>
        </p:nvGraphicFramePr>
        <p:xfrm>
          <a:off x="6153912" y="2304288"/>
          <a:ext cx="1901952" cy="795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47" name="Text 34"/>
          <p:cNvSpPr/>
          <p:nvPr/>
        </p:nvSpPr>
        <p:spPr>
          <a:xfrm>
            <a:off x="6190488" y="3136392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48" name="Chart 11" descr=""/>
          <p:cNvGraphicFramePr/>
          <p:nvPr/>
        </p:nvGraphicFramePr>
        <p:xfrm>
          <a:off x="6153912" y="3255264"/>
          <a:ext cx="1901952" cy="795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49" name="Shape 35"/>
          <p:cNvSpPr/>
          <p:nvPr/>
        </p:nvSpPr>
        <p:spPr>
          <a:xfrm>
            <a:off x="201168" y="4096512"/>
            <a:ext cx="3886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36"/>
          <p:cNvSpPr/>
          <p:nvPr/>
        </p:nvSpPr>
        <p:spPr>
          <a:xfrm>
            <a:off x="292608" y="4123944"/>
            <a:ext cx="3703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8A"/>
                </a:solidFill>
              </a:rPr>
              <a:t>Total Jumper with Authorized/MoC</a:t>
            </a:r>
            <a:endParaRPr lang="en-US" sz="750" dirty="0"/>
          </a:p>
        </p:txBody>
      </p:sp>
      <p:sp>
        <p:nvSpPr>
          <p:cNvPr id="51" name="Text 37"/>
          <p:cNvSpPr/>
          <p:nvPr/>
        </p:nvSpPr>
        <p:spPr>
          <a:xfrm>
            <a:off x="292608" y="4261104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3</a:t>
            </a:r>
            <a:endParaRPr lang="en-US" sz="1400" dirty="0"/>
          </a:p>
        </p:txBody>
      </p:sp>
      <p:sp>
        <p:nvSpPr>
          <p:cNvPr id="52" name="Shape 38"/>
          <p:cNvSpPr/>
          <p:nvPr/>
        </p:nvSpPr>
        <p:spPr>
          <a:xfrm>
            <a:off x="4178808" y="4096512"/>
            <a:ext cx="3886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39"/>
          <p:cNvSpPr/>
          <p:nvPr/>
        </p:nvSpPr>
        <p:spPr>
          <a:xfrm>
            <a:off x="4270248" y="4123944"/>
            <a:ext cx="3703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8A"/>
                </a:solidFill>
              </a:rPr>
              <a:t>Total Removed (W40, 2026)</a:t>
            </a:r>
            <a:endParaRPr lang="en-US" sz="750" dirty="0"/>
          </a:p>
        </p:txBody>
      </p:sp>
      <p:sp>
        <p:nvSpPr>
          <p:cNvPr id="54" name="Text 40"/>
          <p:cNvSpPr/>
          <p:nvPr/>
        </p:nvSpPr>
        <p:spPr>
          <a:xfrm>
            <a:off x="4270248" y="4261104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0</a:t>
            </a:r>
            <a:endParaRPr lang="en-US" sz="1400" dirty="0"/>
          </a:p>
        </p:txBody>
      </p:sp>
      <p:sp>
        <p:nvSpPr>
          <p:cNvPr id="55" name="Text 41"/>
          <p:cNvSpPr/>
          <p:nvPr/>
        </p:nvSpPr>
        <p:spPr>
          <a:xfrm>
            <a:off x="201168" y="4590288"/>
            <a:ext cx="7863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Jumper Update Table</a:t>
            </a:r>
            <a:endParaRPr lang="en-US" sz="8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4754880"/>
          <a:ext cx="7863840" cy="1847088"/>
        </p:xfrm>
        <a:graphic>
          <a:graphicData uri="http://schemas.openxmlformats.org/drawingml/2006/table">
            <a:tbl>
              <a:tblPr/>
              <a:tblGrid>
                <a:gridCol w="822960"/>
                <a:gridCol w="3794760"/>
                <a:gridCol w="1143000"/>
                <a:gridCol w="822960"/>
                <a:gridCol w="1280160"/>
              </a:tblGrid>
              <a:tr h="263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Update Jumper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Installed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Authorized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Due Date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3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D3C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Shortbranches installed on PLC D3C, FSL (Flow Switch Low) Feed conv. Dryer 3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Wk10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Wk51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D3C1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Shortbranches installed on PLC D3C MainFlame On Interlock to TR ESP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wk16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CMS1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Forces installed on PLC CMS1 Level HiHi Switch Surge Bin - Digital_Alarms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Re-installed wk27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Wk27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38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Shape 42"/>
          <p:cNvSpPr/>
          <p:nvPr/>
        </p:nvSpPr>
        <p:spPr>
          <a:xfrm>
            <a:off x="8266176" y="512064"/>
            <a:ext cx="3721608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43"/>
          <p:cNvSpPr/>
          <p:nvPr/>
        </p:nvSpPr>
        <p:spPr>
          <a:xfrm>
            <a:off x="8375904" y="557784"/>
            <a:ext cx="35021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Remaining Jumper List (3)</a:t>
            </a:r>
            <a:endParaRPr lang="en-US" sz="9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39328" y="749808"/>
          <a:ext cx="3575304" cy="2130552"/>
        </p:xfrm>
        <a:graphic>
          <a:graphicData uri="http://schemas.openxmlformats.org/drawingml/2006/table">
            <a:tbl>
              <a:tblPr/>
              <a:tblGrid>
                <a:gridCol w="292608"/>
                <a:gridCol w="658368"/>
                <a:gridCol w="566928"/>
                <a:gridCol w="2057400"/>
              </a:tblGrid>
              <a:tr h="5326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ID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3263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J-004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263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J-005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263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J-006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Shape 44"/>
          <p:cNvSpPr/>
          <p:nvPr/>
        </p:nvSpPr>
        <p:spPr>
          <a:xfrm>
            <a:off x="8266176" y="2999232"/>
            <a:ext cx="37216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45"/>
          <p:cNvSpPr/>
          <p:nvPr/>
        </p:nvSpPr>
        <p:spPr>
          <a:xfrm>
            <a:off x="8375904" y="3054096"/>
            <a:ext cx="35021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Remaining PLC Ratio</a:t>
            </a:r>
            <a:endParaRPr lang="en-US" sz="800" dirty="0"/>
          </a:p>
        </p:txBody>
      </p:sp>
      <p:sp>
        <p:nvSpPr>
          <p:cNvPr id="62" name="Text 46"/>
          <p:cNvSpPr/>
          <p:nvPr/>
        </p:nvSpPr>
        <p:spPr>
          <a:xfrm>
            <a:off x="8375904" y="3218688"/>
            <a:ext cx="3502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4 / 69  (5.8%)</a:t>
            </a:r>
            <a:endParaRPr lang="en-US" sz="1500" dirty="0"/>
          </a:p>
        </p:txBody>
      </p:sp>
      <p:sp>
        <p:nvSpPr>
          <p:cNvPr id="63" name="Text 47"/>
          <p:cNvSpPr/>
          <p:nvPr/>
        </p:nvSpPr>
        <p:spPr>
          <a:xfrm>
            <a:off x="8375904" y="3547872"/>
            <a:ext cx="35021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PLC with active jumpers / Total PLC in Scope</a:t>
            </a:r>
            <a:endParaRPr lang="en-US" sz="720" dirty="0"/>
          </a:p>
        </p:txBody>
      </p:sp>
      <p:sp>
        <p:nvSpPr>
          <p:cNvPr id="64" name="Shape 48"/>
          <p:cNvSpPr/>
          <p:nvPr/>
        </p:nvSpPr>
        <p:spPr>
          <a:xfrm>
            <a:off x="8266176" y="3877056"/>
            <a:ext cx="372160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49"/>
          <p:cNvSpPr/>
          <p:nvPr/>
        </p:nvSpPr>
        <p:spPr>
          <a:xfrm>
            <a:off x="8375904" y="3931920"/>
            <a:ext cx="35021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Count of Remaining Jumper on PLC PP Area</a:t>
            </a:r>
            <a:endParaRPr lang="en-US" sz="800" dirty="0"/>
          </a:p>
        </p:txBody>
      </p:sp>
      <p:graphicFrame>
        <p:nvGraphicFramePr>
          <p:cNvPr id="66" name="Chart 12" descr=""/>
          <p:cNvGraphicFramePr/>
          <p:nvPr/>
        </p:nvGraphicFramePr>
        <p:xfrm>
          <a:off x="8339328" y="4133088"/>
          <a:ext cx="3575304" cy="24140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PPA Process Plant Area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JUMPER AUDIT WEEK-40 (PHASE 6.5 GEOMETRY FITTED)</dc:title>
  <dc:subject>PptxGenJS Presentation</dc:subject>
  <dc:creator>PPA Automation</dc:creator>
  <cp:lastModifiedBy>PPA Automation</cp:lastModifiedBy>
  <cp:revision>1</cp:revision>
  <dcterms:created xsi:type="dcterms:W3CDTF">2026-10-12T11:05:45Z</dcterms:created>
  <dcterms:modified xsi:type="dcterms:W3CDTF">2026-10-12T11:05:45Z</dcterms:modified>
</cp:coreProperties>
</file>