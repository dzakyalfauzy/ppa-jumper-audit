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A52A98"/>
            </a:solidFill>
            <a:ln w="22860" cap="flat">
              <a:solidFill>
                <a:srgbClr val="A52A9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square"/>
            <c:size val="5"/>
            <c:spPr>
              <a:solidFill>
                <a:srgbClr val="A52A98"/>
              </a:solidFill>
              <a:ln w="9525" cap="flat">
                <a:solidFill>
                  <a:srgbClr val="A52A9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75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65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</c:v>
                </c:pt>
              </c:strCache>
            </c:strRef>
          </c:tx>
          <c:spPr>
            <a:solidFill>
              <a:srgbClr val="00857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A52A98"/>
            </a:solidFill>
            <a:ln w="22860" cap="flat">
              <a:solidFill>
                <a:srgbClr val="A52A9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square"/>
            <c:size val="5"/>
            <c:spPr>
              <a:solidFill>
                <a:srgbClr val="A52A98"/>
              </a:solidFill>
              <a:ln w="9525" cap="flat">
                <a:solidFill>
                  <a:srgbClr val="A52A9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75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</c:v>
                </c:pt>
              </c:strCache>
            </c:strRef>
          </c:tx>
          <c:spPr>
            <a:solidFill>
              <a:srgbClr val="00B0F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A52A98"/>
            </a:solidFill>
            <a:ln w="22860" cap="flat">
              <a:solidFill>
                <a:srgbClr val="A52A9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square"/>
            <c:size val="5"/>
            <c:spPr>
              <a:solidFill>
                <a:srgbClr val="A52A98"/>
              </a:solidFill>
              <a:ln w="9525" cap="flat">
                <a:solidFill>
                  <a:srgbClr val="A52A9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75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A52A98"/>
            </a:solidFill>
            <a:ln w="22860" cap="flat">
              <a:solidFill>
                <a:srgbClr val="A52A9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square"/>
            <c:size val="5"/>
            <c:spPr>
              <a:solidFill>
                <a:srgbClr val="A52A98"/>
              </a:solidFill>
              <a:ln w="9525" cap="flat">
                <a:solidFill>
                  <a:srgbClr val="A52A9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75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65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AFI</c:v>
                </c:pt>
              </c:strCache>
            </c:strRef>
          </c:tx>
          <c:spPr>
            <a:solidFill>
              <a:srgbClr val="00B0F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CMS1</c:v>
                  </c:pt>
                  <c:pt idx="1">
                    <c:v>D3C</c:v>
                  </c:pt>
                  <c:pt idx="2">
                    <c:v>D3C1</c:v>
                  </c:pt>
                  <c:pt idx="3">
                    <c:v>K2C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Shortbranches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CMS1</c:v>
                  </c:pt>
                  <c:pt idx="1">
                    <c:v>D3C</c:v>
                  </c:pt>
                  <c:pt idx="2">
                    <c:v>D3C1</c:v>
                  </c:pt>
                  <c:pt idx="3">
                    <c:v>K2C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</c:v>
                </c:pt>
                <c:pt idx="1">
                  <c:v>1</c:v>
                </c:pt>
                <c:pt idx="2">
                  <c:v>1</c:v>
                </c:pt>
                <c:pt idx="3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Forces</c:v>
                </c:pt>
              </c:strCache>
            </c:strRef>
          </c:tx>
          <c:spPr>
            <a:solidFill>
              <a:srgbClr val="00857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CMS1</c:v>
                  </c:pt>
                  <c:pt idx="1">
                    <c:v>D3C</c:v>
                  </c:pt>
                  <c:pt idx="2">
                    <c:v>D3C1</c:v>
                  </c:pt>
                  <c:pt idx="3">
                    <c:v>K2C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7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chart" Target="/ppt/charts/chart7.xml"/><Relationship Id="rId3" Type="http://schemas.openxmlformats.org/officeDocument/2006/relationships/chart" Target="/ppt/charts/chart8.xml"/><Relationship Id="rId4" Type="http://schemas.openxmlformats.org/officeDocument/2006/relationships/chart" Target="/ppt/charts/chart9.xml"/><Relationship Id="rId5" Type="http://schemas.openxmlformats.org/officeDocument/2006/relationships/chart" Target="/ppt/charts/chart10.xml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6858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PPA JUMPER AUDIT WEEK-40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132320" y="73152"/>
            <a:ext cx="4754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Process Plant Area  |  Week 40 · 2026  |  Period: W40 (2026)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658368"/>
            <a:ext cx="17830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694944"/>
            <a:ext cx="178308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3A8A"/>
                </a:solidFill>
              </a:rPr>
              <a:t>DRYER–CM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274320" y="859536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4 jumpers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167128" y="658368"/>
            <a:ext cx="17830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67128" y="694944"/>
            <a:ext cx="178308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3A8A"/>
                </a:solidFill>
              </a:rPr>
              <a:t>KILN–CTS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2167128" y="859536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3 jumpers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059936" y="658368"/>
            <a:ext cx="17830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059936" y="694944"/>
            <a:ext cx="178308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3A8A"/>
                </a:solidFill>
              </a:rPr>
              <a:t>FURNACE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059936" y="859536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0 jumpers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952744" y="658368"/>
            <a:ext cx="17830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52744" y="694944"/>
            <a:ext cx="178308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3A8A"/>
                </a:solidFill>
              </a:rPr>
              <a:t>CONVERTER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952744" y="859536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0 jumpers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4320" y="1234440"/>
            <a:ext cx="1783080" cy="219456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1234440"/>
            <a:ext cx="1783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Dryer–CM (4 jumpers)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47472" y="1508760"/>
            <a:ext cx="73152" cy="73152"/>
          </a:xfrm>
          <a:prstGeom prst="oval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1472184"/>
            <a:ext cx="1554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334155"/>
                </a:solidFill>
              </a:rPr>
              <a:t>Shortbranches</a:t>
            </a:r>
            <a:endParaRPr lang="en-US" sz="7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274320" y="1609344"/>
          <a:ext cx="1783080" cy="731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hape 19"/>
          <p:cNvSpPr/>
          <p:nvPr/>
        </p:nvSpPr>
        <p:spPr>
          <a:xfrm>
            <a:off x="347472" y="2450592"/>
            <a:ext cx="73152" cy="73152"/>
          </a:xfrm>
          <a:prstGeom prst="oval">
            <a:avLst/>
          </a:prstGeom>
          <a:solidFill>
            <a:srgbClr val="008577"/>
          </a:solidFill>
          <a:ln w="12700">
            <a:solidFill>
              <a:srgbClr val="008577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57200" y="2414016"/>
            <a:ext cx="1554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334155"/>
                </a:solidFill>
              </a:rPr>
              <a:t>Forces</a:t>
            </a:r>
            <a:endParaRPr lang="en-US" sz="750" dirty="0"/>
          </a:p>
        </p:txBody>
      </p:sp>
      <p:graphicFrame>
        <p:nvGraphicFramePr>
          <p:cNvPr id="24" name="Chart 1" descr=""/>
          <p:cNvGraphicFramePr/>
          <p:nvPr/>
        </p:nvGraphicFramePr>
        <p:xfrm>
          <a:off x="274320" y="2551176"/>
          <a:ext cx="1783080" cy="731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5" name="Shape 21"/>
          <p:cNvSpPr/>
          <p:nvPr/>
        </p:nvSpPr>
        <p:spPr>
          <a:xfrm>
            <a:off x="347472" y="3392424"/>
            <a:ext cx="73152" cy="73152"/>
          </a:xfrm>
          <a:prstGeom prst="oval">
            <a:avLst/>
          </a:prstGeom>
          <a:solidFill>
            <a:srgbClr val="00B0F0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457200" y="3355848"/>
            <a:ext cx="1554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334155"/>
                </a:solidFill>
              </a:rPr>
              <a:t>AFI</a:t>
            </a:r>
            <a:endParaRPr lang="en-US" sz="750" dirty="0"/>
          </a:p>
        </p:txBody>
      </p:sp>
      <p:graphicFrame>
        <p:nvGraphicFramePr>
          <p:cNvPr id="27" name="Chart 2" descr=""/>
          <p:cNvGraphicFramePr/>
          <p:nvPr/>
        </p:nvGraphicFramePr>
        <p:xfrm>
          <a:off x="274320" y="3493008"/>
          <a:ext cx="1783080" cy="731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8" name="Shape 23"/>
          <p:cNvSpPr/>
          <p:nvPr/>
        </p:nvSpPr>
        <p:spPr>
          <a:xfrm>
            <a:off x="2167128" y="1234440"/>
            <a:ext cx="1783080" cy="219456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2167128" y="1234440"/>
            <a:ext cx="1783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Kiln–CTS (3 jumpers)</a:t>
            </a:r>
            <a:endParaRPr lang="en-US" sz="800" dirty="0"/>
          </a:p>
        </p:txBody>
      </p:sp>
      <p:sp>
        <p:nvSpPr>
          <p:cNvPr id="30" name="Shape 25"/>
          <p:cNvSpPr/>
          <p:nvPr/>
        </p:nvSpPr>
        <p:spPr>
          <a:xfrm>
            <a:off x="2240280" y="1508760"/>
            <a:ext cx="73152" cy="73152"/>
          </a:xfrm>
          <a:prstGeom prst="oval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2350008" y="1472184"/>
            <a:ext cx="1554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334155"/>
                </a:solidFill>
              </a:rPr>
              <a:t>Shortbranches</a:t>
            </a:r>
            <a:endParaRPr lang="en-US" sz="750" dirty="0"/>
          </a:p>
        </p:txBody>
      </p:sp>
      <p:graphicFrame>
        <p:nvGraphicFramePr>
          <p:cNvPr id="32" name="Chart 3" descr=""/>
          <p:cNvGraphicFramePr/>
          <p:nvPr/>
        </p:nvGraphicFramePr>
        <p:xfrm>
          <a:off x="2167128" y="1609344"/>
          <a:ext cx="1783080" cy="731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33" name="Shape 27"/>
          <p:cNvSpPr/>
          <p:nvPr/>
        </p:nvSpPr>
        <p:spPr>
          <a:xfrm>
            <a:off x="4059936" y="1234440"/>
            <a:ext cx="1783080" cy="219456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4" name="Text 28"/>
          <p:cNvSpPr/>
          <p:nvPr/>
        </p:nvSpPr>
        <p:spPr>
          <a:xfrm>
            <a:off x="4059936" y="1234440"/>
            <a:ext cx="1783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Furnace (0 jumpers)</a:t>
            </a:r>
            <a:endParaRPr lang="en-US" sz="800" dirty="0"/>
          </a:p>
        </p:txBody>
      </p:sp>
      <p:sp>
        <p:nvSpPr>
          <p:cNvPr id="35" name="Shape 29"/>
          <p:cNvSpPr/>
          <p:nvPr/>
        </p:nvSpPr>
        <p:spPr>
          <a:xfrm>
            <a:off x="5952744" y="1234440"/>
            <a:ext cx="1783080" cy="219456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6" name="Text 30"/>
          <p:cNvSpPr/>
          <p:nvPr/>
        </p:nvSpPr>
        <p:spPr>
          <a:xfrm>
            <a:off x="5952744" y="1234440"/>
            <a:ext cx="1783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Converter (0 jumpers)</a:t>
            </a:r>
            <a:endParaRPr lang="en-US" sz="800" dirty="0"/>
          </a:p>
        </p:txBody>
      </p:sp>
      <p:sp>
        <p:nvSpPr>
          <p:cNvPr id="37" name="Shape 31"/>
          <p:cNvSpPr/>
          <p:nvPr/>
        </p:nvSpPr>
        <p:spPr>
          <a:xfrm>
            <a:off x="274320" y="4251960"/>
            <a:ext cx="3639312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2"/>
          <p:cNvSpPr/>
          <p:nvPr/>
        </p:nvSpPr>
        <p:spPr>
          <a:xfrm>
            <a:off x="365760" y="4297680"/>
            <a:ext cx="34564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3A8A"/>
                </a:solidFill>
              </a:rPr>
              <a:t>Total Jumper with Authorized/MoC</a:t>
            </a:r>
            <a:endParaRPr lang="en-US" sz="800" dirty="0"/>
          </a:p>
        </p:txBody>
      </p:sp>
      <p:sp>
        <p:nvSpPr>
          <p:cNvPr id="39" name="Text 33"/>
          <p:cNvSpPr/>
          <p:nvPr/>
        </p:nvSpPr>
        <p:spPr>
          <a:xfrm>
            <a:off x="365760" y="4471416"/>
            <a:ext cx="34564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3</a:t>
            </a:r>
            <a:endParaRPr lang="en-US" sz="1600" dirty="0"/>
          </a:p>
        </p:txBody>
      </p:sp>
      <p:sp>
        <p:nvSpPr>
          <p:cNvPr id="40" name="Shape 34"/>
          <p:cNvSpPr/>
          <p:nvPr/>
        </p:nvSpPr>
        <p:spPr>
          <a:xfrm>
            <a:off x="4096512" y="4251960"/>
            <a:ext cx="3639312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1" name="Text 35"/>
          <p:cNvSpPr/>
          <p:nvPr/>
        </p:nvSpPr>
        <p:spPr>
          <a:xfrm>
            <a:off x="4187952" y="4297680"/>
            <a:ext cx="34564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3A8A"/>
                </a:solidFill>
              </a:rPr>
              <a:t>Total Removed (W40, 2026)</a:t>
            </a:r>
            <a:endParaRPr lang="en-US" sz="800" dirty="0"/>
          </a:p>
        </p:txBody>
      </p:sp>
      <p:sp>
        <p:nvSpPr>
          <p:cNvPr id="42" name="Text 36"/>
          <p:cNvSpPr/>
          <p:nvPr/>
        </p:nvSpPr>
        <p:spPr>
          <a:xfrm>
            <a:off x="4187952" y="4471416"/>
            <a:ext cx="34564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0</a:t>
            </a:r>
            <a:endParaRPr lang="en-US" sz="1600" dirty="0"/>
          </a:p>
        </p:txBody>
      </p:sp>
      <p:sp>
        <p:nvSpPr>
          <p:cNvPr id="43" name="Text 37"/>
          <p:cNvSpPr/>
          <p:nvPr/>
        </p:nvSpPr>
        <p:spPr>
          <a:xfrm>
            <a:off x="274320" y="4956048"/>
            <a:ext cx="746150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3A8A"/>
                </a:solidFill>
              </a:rPr>
              <a:t>Jumper Update Table</a:t>
            </a:r>
            <a:endParaRPr lang="en-US" sz="9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5157216"/>
          <a:ext cx="7461504" cy="1554480"/>
        </p:xfrm>
        <a:graphic>
          <a:graphicData uri="http://schemas.openxmlformats.org/drawingml/2006/table">
            <a:tbl>
              <a:tblPr/>
              <a:tblGrid>
                <a:gridCol w="822960"/>
                <a:gridCol w="3474720"/>
                <a:gridCol w="1097280"/>
                <a:gridCol w="822960"/>
                <a:gridCol w="1243584"/>
              </a:tblGrid>
              <a:tr h="2220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E293B"/>
                          </a:solidFill>
                        </a:rPr>
                        <a:t>PLC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E293B"/>
                          </a:solidFill>
                        </a:rPr>
                        <a:t>Update Jumper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E293B"/>
                          </a:solidFill>
                        </a:rPr>
                        <a:t>Installed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E293B"/>
                          </a:solidFill>
                        </a:rPr>
                        <a:t>Authorized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E293B"/>
                          </a:solidFill>
                        </a:rPr>
                        <a:t>Due Date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220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D3C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Shortbranches installed on PLC D3C, FSL (Flow Switch Low) Feed conv. Dryer 3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Wk10 2026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✓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Wk51 2026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20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D3C1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Shortbranches installed on PLC D3C MainFlame On Interlock to TR ESP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wk16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✓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Perlu konfirmasi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20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CMS1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Forces installed on PLC CMS1 Level HiHi Switch Surge Bin - Digital_Alarms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Re-installed wk27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✓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Wk27 2026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20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K2C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Conveying Blower opr ready E4AM01 on PLC K2C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Wk39 2026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Perlu konfirmasi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20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K2C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Conveying Blower opr ready H21M03 on PLC K2C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Wk39 2026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Perlu konfirmasi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20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K2C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Conveying Blower opr ready H21M04 on PLC K2C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Wk39 2026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</a:rPr>
                        <a:t>Perlu konfirmasi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5" name="Shape 38"/>
          <p:cNvSpPr/>
          <p:nvPr/>
        </p:nvSpPr>
        <p:spPr>
          <a:xfrm>
            <a:off x="7955280" y="658368"/>
            <a:ext cx="3959352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6" name="Text 39"/>
          <p:cNvSpPr/>
          <p:nvPr/>
        </p:nvSpPr>
        <p:spPr>
          <a:xfrm>
            <a:off x="8092440" y="731520"/>
            <a:ext cx="36850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3A8A"/>
                </a:solidFill>
              </a:rPr>
              <a:t>Remaining Jumper List (3)</a:t>
            </a:r>
            <a:endParaRPr lang="en-US" sz="950" dirty="0"/>
          </a:p>
        </p:txBody>
      </p:sp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046720" y="978408"/>
          <a:ext cx="3776472" cy="1965960"/>
        </p:xfrm>
        <a:graphic>
          <a:graphicData uri="http://schemas.openxmlformats.org/drawingml/2006/table">
            <a:tbl>
              <a:tblPr/>
              <a:tblGrid>
                <a:gridCol w="320040"/>
                <a:gridCol w="685800"/>
                <a:gridCol w="594360"/>
                <a:gridCol w="2176272"/>
              </a:tblGrid>
              <a:tr h="4914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1E293B"/>
                          </a:solidFill>
                        </a:rPr>
                        <a:t>No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1E293B"/>
                          </a:solidFill>
                        </a:rPr>
                        <a:t>ID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1E293B"/>
                          </a:solidFill>
                        </a:rPr>
                        <a:t>PLC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1E293B"/>
                          </a:solidFill>
                        </a:rPr>
                        <a:t>Description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b="1" dirty="0">
                          <a:solidFill>
                            <a:srgbClr val="000000"/>
                          </a:solidFill>
                        </a:rPr>
                        <a:t>J-004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K2C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Conveying Blower opr ready E4AM01 on PLC K2C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b="1" dirty="0">
                          <a:solidFill>
                            <a:srgbClr val="000000"/>
                          </a:solidFill>
                        </a:rPr>
                        <a:t>J-005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K2C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Conveying Blower opr ready H21M03 on PLC K2C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b="1" dirty="0">
                          <a:solidFill>
                            <a:srgbClr val="000000"/>
                          </a:solidFill>
                        </a:rPr>
                        <a:t>J-006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K2C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Conveying Blower opr ready H21M04 on PLC K2C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8" name="Shape 40"/>
          <p:cNvSpPr/>
          <p:nvPr/>
        </p:nvSpPr>
        <p:spPr>
          <a:xfrm>
            <a:off x="7955280" y="3182112"/>
            <a:ext cx="3959352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9" name="Text 41"/>
          <p:cNvSpPr/>
          <p:nvPr/>
        </p:nvSpPr>
        <p:spPr>
          <a:xfrm>
            <a:off x="8092440" y="3255264"/>
            <a:ext cx="36850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3A8A"/>
                </a:solidFill>
              </a:rPr>
              <a:t>Remaining PLC Ratio</a:t>
            </a:r>
            <a:endParaRPr lang="en-US" sz="850" dirty="0"/>
          </a:p>
        </p:txBody>
      </p:sp>
      <p:sp>
        <p:nvSpPr>
          <p:cNvPr id="50" name="Text 42"/>
          <p:cNvSpPr/>
          <p:nvPr/>
        </p:nvSpPr>
        <p:spPr>
          <a:xfrm>
            <a:off x="8092440" y="3456432"/>
            <a:ext cx="36850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4 / 69  (5.8%)</a:t>
            </a:r>
            <a:endParaRPr lang="en-US" sz="1600" dirty="0"/>
          </a:p>
        </p:txBody>
      </p:sp>
      <p:sp>
        <p:nvSpPr>
          <p:cNvPr id="51" name="Text 43"/>
          <p:cNvSpPr/>
          <p:nvPr/>
        </p:nvSpPr>
        <p:spPr>
          <a:xfrm>
            <a:off x="8092440" y="3803904"/>
            <a:ext cx="36850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PLC with active jumpers / Total PLC in Scope</a:t>
            </a:r>
            <a:endParaRPr lang="en-US" sz="750" dirty="0"/>
          </a:p>
        </p:txBody>
      </p:sp>
      <p:sp>
        <p:nvSpPr>
          <p:cNvPr id="52" name="Shape 44"/>
          <p:cNvSpPr/>
          <p:nvPr/>
        </p:nvSpPr>
        <p:spPr>
          <a:xfrm>
            <a:off x="7955280" y="4151376"/>
            <a:ext cx="3959352" cy="24871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3" name="Text 45"/>
          <p:cNvSpPr/>
          <p:nvPr/>
        </p:nvSpPr>
        <p:spPr>
          <a:xfrm>
            <a:off x="8092440" y="4224528"/>
            <a:ext cx="36850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3A8A"/>
                </a:solidFill>
              </a:rPr>
              <a:t>Count of Remaining Jumper on PLC PP Area</a:t>
            </a:r>
            <a:endParaRPr lang="en-US" sz="850" dirty="0"/>
          </a:p>
        </p:txBody>
      </p:sp>
      <p:graphicFrame>
        <p:nvGraphicFramePr>
          <p:cNvPr id="54" name="Chart 4" descr=""/>
          <p:cNvGraphicFramePr/>
          <p:nvPr/>
        </p:nvGraphicFramePr>
        <p:xfrm>
          <a:off x="8046720" y="4443984"/>
          <a:ext cx="3776472" cy="2103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5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PPA Process Plant Area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PPA JUMPER AUDIT WEEK-40</dc:title>
  <dc:subject>PptxGenJS Presentation</dc:subject>
  <dc:creator>PPA Automation</dc:creator>
  <cp:lastModifiedBy>PPA Automation</cp:lastModifiedBy>
  <cp:revision>1</cp:revision>
  <dcterms:created xsi:type="dcterms:W3CDTF">2026-10-12T06:53:20Z</dcterms:created>
  <dcterms:modified xsi:type="dcterms:W3CDTF">2026-10-12T06:53:20Z</dcterms:modified>
</cp:coreProperties>
</file>