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Shortbranches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Forces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chart" Target="/ppt/charts/chart21.xml"/><Relationship Id="rId3" Type="http://schemas.openxmlformats.org/officeDocument/2006/relationships/chart" Target="/ppt/charts/chart22.xml"/><Relationship Id="rId4" Type="http://schemas.openxmlformats.org/officeDocument/2006/relationships/chart" Target="/ppt/charts/chart23.xml"/><Relationship Id="rId5" Type="http://schemas.openxmlformats.org/officeDocument/2006/relationships/chart" Target="/ppt/charts/chart24.xml"/><Relationship Id="rId6" Type="http://schemas.openxmlformats.org/officeDocument/2006/relationships/chart" Target="/ppt/charts/chart25.xml"/><Relationship Id="rId7" Type="http://schemas.openxmlformats.org/officeDocument/2006/relationships/chart" Target="/ppt/charts/chart26.xml"/><Relationship Id="rId8" Type="http://schemas.openxmlformats.org/officeDocument/2006/relationships/chart" Target="/ppt/charts/chart27.xml"/><Relationship Id="rId9" Type="http://schemas.openxmlformats.org/officeDocument/2006/relationships/chart" Target="/ppt/charts/chart28.xml"/><Relationship Id="rId10" Type="http://schemas.openxmlformats.org/officeDocument/2006/relationships/chart" Target="/ppt/charts/chart29.xml"/><Relationship Id="rId11" Type="http://schemas.openxmlformats.org/officeDocument/2006/relationships/chart" Target="/ppt/charts/chart30.xml"/><Relationship Id="rId12" Type="http://schemas.openxmlformats.org/officeDocument/2006/relationships/chart" Target="/ppt/charts/chart31.xml"/><Relationship Id="rId13" Type="http://schemas.openxmlformats.org/officeDocument/2006/relationships/chart" Target="/ppt/charts/chart32.xm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PPA JUMPER AUDIT WEEK-40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Process Plant Area  |  Week 40 · 2026  |  Period: W40 (2026)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DRYER–CM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 jumpers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67128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KILN–CTS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67128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 jumpers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59936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9936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FURNACE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59936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52744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CONVERTER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52744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Dryer–CM (4 jumpers)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347472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274320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347472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7200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27" name="Chart 2" descr=""/>
          <p:cNvGraphicFramePr/>
          <p:nvPr/>
        </p:nvGraphicFramePr>
        <p:xfrm>
          <a:off x="274320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Shape 23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Kiln–CTS (3 jumpers)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2240280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350008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32" name="Chart 3" descr=""/>
          <p:cNvGraphicFramePr/>
          <p:nvPr/>
        </p:nvGraphicFramePr>
        <p:xfrm>
          <a:off x="2167128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3" name="Shape 27"/>
          <p:cNvSpPr/>
          <p:nvPr/>
        </p:nvSpPr>
        <p:spPr>
          <a:xfrm>
            <a:off x="2240280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350008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35" name="Chart 4" descr=""/>
          <p:cNvGraphicFramePr/>
          <p:nvPr/>
        </p:nvGraphicFramePr>
        <p:xfrm>
          <a:off x="2167128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6" name="Shape 29"/>
          <p:cNvSpPr/>
          <p:nvPr/>
        </p:nvSpPr>
        <p:spPr>
          <a:xfrm>
            <a:off x="2240280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2350008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38" name="Chart 5" descr=""/>
          <p:cNvGraphicFramePr/>
          <p:nvPr/>
        </p:nvGraphicFramePr>
        <p:xfrm>
          <a:off x="2167128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9" name="Shape 31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Furnace (0 jumpers)</a:t>
            </a:r>
            <a:endParaRPr lang="en-US" sz="800" dirty="0"/>
          </a:p>
        </p:txBody>
      </p:sp>
      <p:sp>
        <p:nvSpPr>
          <p:cNvPr id="41" name="Shape 33"/>
          <p:cNvSpPr/>
          <p:nvPr/>
        </p:nvSpPr>
        <p:spPr>
          <a:xfrm>
            <a:off x="4133088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4242816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43" name="Chart 6" descr=""/>
          <p:cNvGraphicFramePr/>
          <p:nvPr/>
        </p:nvGraphicFramePr>
        <p:xfrm>
          <a:off x="4059936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44" name="Shape 35"/>
          <p:cNvSpPr/>
          <p:nvPr/>
        </p:nvSpPr>
        <p:spPr>
          <a:xfrm>
            <a:off x="4133088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4242816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46" name="Chart 7" descr=""/>
          <p:cNvGraphicFramePr/>
          <p:nvPr/>
        </p:nvGraphicFramePr>
        <p:xfrm>
          <a:off x="4059936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47" name="Shape 37"/>
          <p:cNvSpPr/>
          <p:nvPr/>
        </p:nvSpPr>
        <p:spPr>
          <a:xfrm>
            <a:off x="4133088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4242816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49" name="Chart 8" descr=""/>
          <p:cNvGraphicFramePr/>
          <p:nvPr/>
        </p:nvGraphicFramePr>
        <p:xfrm>
          <a:off x="4059936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50" name="Shape 39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Converter (0 jumpers)</a:t>
            </a:r>
            <a:endParaRPr lang="en-US" sz="800" dirty="0"/>
          </a:p>
        </p:txBody>
      </p:sp>
      <p:sp>
        <p:nvSpPr>
          <p:cNvPr id="52" name="Shape 41"/>
          <p:cNvSpPr/>
          <p:nvPr/>
        </p:nvSpPr>
        <p:spPr>
          <a:xfrm>
            <a:off x="6025896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6135624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54" name="Chart 9" descr=""/>
          <p:cNvGraphicFramePr/>
          <p:nvPr/>
        </p:nvGraphicFramePr>
        <p:xfrm>
          <a:off x="5952744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55" name="Shape 43"/>
          <p:cNvSpPr/>
          <p:nvPr/>
        </p:nvSpPr>
        <p:spPr>
          <a:xfrm>
            <a:off x="6025896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56" name="Text 44"/>
          <p:cNvSpPr/>
          <p:nvPr/>
        </p:nvSpPr>
        <p:spPr>
          <a:xfrm>
            <a:off x="6135624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57" name="Chart 10" descr=""/>
          <p:cNvGraphicFramePr/>
          <p:nvPr/>
        </p:nvGraphicFramePr>
        <p:xfrm>
          <a:off x="5952744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58" name="Shape 45"/>
          <p:cNvSpPr/>
          <p:nvPr/>
        </p:nvSpPr>
        <p:spPr>
          <a:xfrm>
            <a:off x="6025896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59" name="Text 46"/>
          <p:cNvSpPr/>
          <p:nvPr/>
        </p:nvSpPr>
        <p:spPr>
          <a:xfrm>
            <a:off x="6135624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60" name="Chart 11" descr=""/>
          <p:cNvGraphicFramePr/>
          <p:nvPr/>
        </p:nvGraphicFramePr>
        <p:xfrm>
          <a:off x="5952744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61" name="Shape 47"/>
          <p:cNvSpPr/>
          <p:nvPr/>
        </p:nvSpPr>
        <p:spPr>
          <a:xfrm>
            <a:off x="274320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48"/>
          <p:cNvSpPr/>
          <p:nvPr/>
        </p:nvSpPr>
        <p:spPr>
          <a:xfrm>
            <a:off x="365760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Jumper with Authorized/MoC</a:t>
            </a:r>
            <a:endParaRPr lang="en-US" sz="800" dirty="0"/>
          </a:p>
        </p:txBody>
      </p:sp>
      <p:sp>
        <p:nvSpPr>
          <p:cNvPr id="63" name="Text 49"/>
          <p:cNvSpPr/>
          <p:nvPr/>
        </p:nvSpPr>
        <p:spPr>
          <a:xfrm>
            <a:off x="365760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64" name="Shape 50"/>
          <p:cNvSpPr/>
          <p:nvPr/>
        </p:nvSpPr>
        <p:spPr>
          <a:xfrm>
            <a:off x="4096512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51"/>
          <p:cNvSpPr/>
          <p:nvPr/>
        </p:nvSpPr>
        <p:spPr>
          <a:xfrm>
            <a:off x="4187952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Removed (W40, 2026)</a:t>
            </a:r>
            <a:endParaRPr lang="en-US" sz="800" dirty="0"/>
          </a:p>
        </p:txBody>
      </p:sp>
      <p:sp>
        <p:nvSpPr>
          <p:cNvPr id="66" name="Text 52"/>
          <p:cNvSpPr/>
          <p:nvPr/>
        </p:nvSpPr>
        <p:spPr>
          <a:xfrm>
            <a:off x="4187952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</a:t>
            </a:r>
            <a:endParaRPr lang="en-US" sz="1600" dirty="0"/>
          </a:p>
        </p:txBody>
      </p:sp>
      <p:sp>
        <p:nvSpPr>
          <p:cNvPr id="67" name="Text 53"/>
          <p:cNvSpPr/>
          <p:nvPr/>
        </p:nvSpPr>
        <p:spPr>
          <a:xfrm>
            <a:off x="274320" y="4956048"/>
            <a:ext cx="7461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Jumper Update Table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157216"/>
          <a:ext cx="7461504" cy="1554480"/>
        </p:xfrm>
        <a:graphic>
          <a:graphicData uri="http://schemas.openxmlformats.org/drawingml/2006/table">
            <a:tbl>
              <a:tblPr/>
              <a:tblGrid>
                <a:gridCol w="822960"/>
                <a:gridCol w="3474720"/>
                <a:gridCol w="1097280"/>
                <a:gridCol w="822960"/>
                <a:gridCol w="1243584"/>
              </a:tblGrid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Update Jumper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Installed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Authorized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Due Date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D3C, FSL (Flow Switch Low) Feed conv. Dryer 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Wk10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Wk51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 MainFlame On Interlock to TR ESP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CMS1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Forces installed on PLC CMS1 Level HiHi Switch Surge Bin - Digital_Alarms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Re-installed wk27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Wk27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9" name="Shape 54"/>
          <p:cNvSpPr/>
          <p:nvPr/>
        </p:nvSpPr>
        <p:spPr>
          <a:xfrm>
            <a:off x="7955280" y="658368"/>
            <a:ext cx="395935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55"/>
          <p:cNvSpPr/>
          <p:nvPr/>
        </p:nvSpPr>
        <p:spPr>
          <a:xfrm>
            <a:off x="8092440" y="731520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</a:rPr>
              <a:t>Remaining Jumper List (3)</a:t>
            </a:r>
            <a:endParaRPr lang="en-US" sz="9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978408"/>
          <a:ext cx="3776472" cy="1965960"/>
        </p:xfrm>
        <a:graphic>
          <a:graphicData uri="http://schemas.openxmlformats.org/drawingml/2006/table">
            <a:tbl>
              <a:tblPr/>
              <a:tblGrid>
                <a:gridCol w="320040"/>
                <a:gridCol w="685800"/>
                <a:gridCol w="594360"/>
                <a:gridCol w="2176272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ID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J-004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J-005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2" name="Shape 56"/>
          <p:cNvSpPr/>
          <p:nvPr/>
        </p:nvSpPr>
        <p:spPr>
          <a:xfrm>
            <a:off x="7955280" y="3182112"/>
            <a:ext cx="39593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Text 57"/>
          <p:cNvSpPr/>
          <p:nvPr/>
        </p:nvSpPr>
        <p:spPr>
          <a:xfrm>
            <a:off x="8092440" y="325526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Remaining PLC Ratio</a:t>
            </a:r>
            <a:endParaRPr lang="en-US" sz="850" dirty="0"/>
          </a:p>
        </p:txBody>
      </p:sp>
      <p:sp>
        <p:nvSpPr>
          <p:cNvPr id="74" name="Text 58"/>
          <p:cNvSpPr/>
          <p:nvPr/>
        </p:nvSpPr>
        <p:spPr>
          <a:xfrm>
            <a:off x="8092440" y="3456432"/>
            <a:ext cx="3685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 / 69  (5.8%)</a:t>
            </a:r>
            <a:endParaRPr lang="en-US" sz="1600" dirty="0"/>
          </a:p>
        </p:txBody>
      </p:sp>
      <p:sp>
        <p:nvSpPr>
          <p:cNvPr id="75" name="Text 59"/>
          <p:cNvSpPr/>
          <p:nvPr/>
        </p:nvSpPr>
        <p:spPr>
          <a:xfrm>
            <a:off x="8092440" y="380390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PLC with active jumpers / Total PLC in Scope</a:t>
            </a:r>
            <a:endParaRPr lang="en-US" sz="750" dirty="0"/>
          </a:p>
        </p:txBody>
      </p:sp>
      <p:sp>
        <p:nvSpPr>
          <p:cNvPr id="76" name="Shape 60"/>
          <p:cNvSpPr/>
          <p:nvPr/>
        </p:nvSpPr>
        <p:spPr>
          <a:xfrm>
            <a:off x="7955280" y="4151376"/>
            <a:ext cx="395935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Text 61"/>
          <p:cNvSpPr/>
          <p:nvPr/>
        </p:nvSpPr>
        <p:spPr>
          <a:xfrm>
            <a:off x="8092440" y="4224528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Count of Remaining Jumper on PLC PP Area</a:t>
            </a:r>
            <a:endParaRPr lang="en-US" sz="850" dirty="0"/>
          </a:p>
        </p:txBody>
      </p:sp>
      <p:graphicFrame>
        <p:nvGraphicFramePr>
          <p:cNvPr id="78" name="Chart 12" descr=""/>
          <p:cNvGraphicFramePr/>
          <p:nvPr/>
        </p:nvGraphicFramePr>
        <p:xfrm>
          <a:off x="8046720" y="4443984"/>
          <a:ext cx="377647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PPA Process Plant Area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JUMPER AUDIT WEEK-40</dc:title>
  <dc:subject>PptxGenJS Presentation</dc:subject>
  <dc:creator>PPA Automation</dc:creator>
  <cp:lastModifiedBy>PPA Automation</cp:lastModifiedBy>
  <cp:revision>1</cp:revision>
  <dcterms:created xsi:type="dcterms:W3CDTF">2026-10-12T06:53:21Z</dcterms:created>
  <dcterms:modified xsi:type="dcterms:W3CDTF">2026-10-12T06:53:21Z</dcterms:modified>
</cp:coreProperties>
</file>