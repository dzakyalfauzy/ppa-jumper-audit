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AFI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CMS1</c:v>
                  </c:pt>
                  <c:pt idx="1">
                    <c:v>D3C</c:v>
                  </c:pt>
                  <c:pt idx="2">
                    <c:v>D3C1</c:v>
                  </c:pt>
                  <c:pt idx="3">
                    <c:v>K2C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Shortbranches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CMS1</c:v>
                  </c:pt>
                  <c:pt idx="1">
                    <c:v>D3C</c:v>
                  </c:pt>
                  <c:pt idx="2">
                    <c:v>D3C1</c:v>
                  </c:pt>
                  <c:pt idx="3">
                    <c:v>K2C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Forces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CMS1</c:v>
                  </c:pt>
                  <c:pt idx="1">
                    <c:v>D3C</c:v>
                  </c:pt>
                  <c:pt idx="2">
                    <c:v>D3C1</c:v>
                  </c:pt>
                  <c:pt idx="3">
                    <c:v>K2C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6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5" Type="http://schemas.openxmlformats.org/officeDocument/2006/relationships/chart" Target="/ppt/charts/chart5.xml"/><Relationship Id="rId6" Type="http://schemas.openxmlformats.org/officeDocument/2006/relationships/chart" Target="/ppt/charts/chart6.xml"/><Relationship Id="rId7" Type="http://schemas.openxmlformats.org/officeDocument/2006/relationships/chart" Target="/ppt/charts/chart7.xml"/><Relationship Id="rId8" Type="http://schemas.openxmlformats.org/officeDocument/2006/relationships/chart" Target="/ppt/charts/chart8.xml"/><Relationship Id="rId9" Type="http://schemas.openxmlformats.org/officeDocument/2006/relationships/chart" Target="/ppt/charts/chart9.xml"/><Relationship Id="rId10" Type="http://schemas.openxmlformats.org/officeDocument/2006/relationships/chart" Target="/ppt/charts/chart10.xml"/><Relationship Id="rId11" Type="http://schemas.openxmlformats.org/officeDocument/2006/relationships/chart" Target="/ppt/charts/chart11.xml"/><Relationship Id="rId12" Type="http://schemas.openxmlformats.org/officeDocument/2006/relationships/chart" Target="/ppt/charts/chart12.xml"/><Relationship Id="rId13" Type="http://schemas.openxmlformats.org/officeDocument/2006/relationships/chart" Target="/ppt/charts/chart13.xml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6583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PPA JUMPER AUDIT WEEK-40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0" y="457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Process Plant Area  |  Week 40 · 2026  |  Period: W40 (2026)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28600" y="530352"/>
            <a:ext cx="1874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557784"/>
            <a:ext cx="187452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DRYER–CM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28600" y="694944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4 jumpers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94560" y="530352"/>
            <a:ext cx="1874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0" y="557784"/>
            <a:ext cx="187452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KILN–CTS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194560" y="694944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3 jumpers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60520" y="530352"/>
            <a:ext cx="1874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60520" y="557784"/>
            <a:ext cx="187452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FURNACE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160520" y="694944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0 jumpers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530352"/>
            <a:ext cx="1874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557784"/>
            <a:ext cx="187452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CONVERTER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126480" y="694944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0 jumpers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1042416"/>
            <a:ext cx="1874520" cy="20116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1042416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Dryer–CM (4 jumpers)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65176" y="1271016"/>
            <a:ext cx="18013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BFBFBF"/>
                </a:solidFill>
              </a:rPr>
              <a:t>●  Shortbranches</a:t>
            </a:r>
            <a:endParaRPr lang="en-US" sz="75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228600" y="1389888"/>
          <a:ext cx="1874520" cy="81381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/>
          <p:nvPr/>
        </p:nvSpPr>
        <p:spPr>
          <a:xfrm>
            <a:off x="265176" y="2249424"/>
            <a:ext cx="18013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8577"/>
                </a:solidFill>
              </a:rPr>
              <a:t>●  Forces</a:t>
            </a:r>
            <a:endParaRPr lang="en-US" sz="750" dirty="0"/>
          </a:p>
        </p:txBody>
      </p:sp>
      <p:graphicFrame>
        <p:nvGraphicFramePr>
          <p:cNvPr id="22" name="Chart 1" descr=""/>
          <p:cNvGraphicFramePr/>
          <p:nvPr/>
        </p:nvGraphicFramePr>
        <p:xfrm>
          <a:off x="228600" y="2368296"/>
          <a:ext cx="1874520" cy="81381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3" name="Text 19"/>
          <p:cNvSpPr/>
          <p:nvPr/>
        </p:nvSpPr>
        <p:spPr>
          <a:xfrm>
            <a:off x="265176" y="3227832"/>
            <a:ext cx="18013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B0F0"/>
                </a:solidFill>
              </a:rPr>
              <a:t>●  AFI</a:t>
            </a:r>
            <a:endParaRPr lang="en-US" sz="750" dirty="0"/>
          </a:p>
        </p:txBody>
      </p:sp>
      <p:graphicFrame>
        <p:nvGraphicFramePr>
          <p:cNvPr id="24" name="Chart 2" descr=""/>
          <p:cNvGraphicFramePr/>
          <p:nvPr/>
        </p:nvGraphicFramePr>
        <p:xfrm>
          <a:off x="228600" y="3346704"/>
          <a:ext cx="1874520" cy="81381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5" name="Shape 20"/>
          <p:cNvSpPr/>
          <p:nvPr/>
        </p:nvSpPr>
        <p:spPr>
          <a:xfrm>
            <a:off x="2194560" y="1042416"/>
            <a:ext cx="1874520" cy="20116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2194560" y="1042416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Kiln–CTS (3 jumpers)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2231136" y="1271016"/>
            <a:ext cx="18013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BFBFBF"/>
                </a:solidFill>
              </a:rPr>
              <a:t>●  Shortbranches</a:t>
            </a:r>
            <a:endParaRPr lang="en-US" sz="750" dirty="0"/>
          </a:p>
        </p:txBody>
      </p:sp>
      <p:graphicFrame>
        <p:nvGraphicFramePr>
          <p:cNvPr id="28" name="Chart 3" descr=""/>
          <p:cNvGraphicFramePr/>
          <p:nvPr/>
        </p:nvGraphicFramePr>
        <p:xfrm>
          <a:off x="2194560" y="1389888"/>
          <a:ext cx="1874520" cy="81381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9" name="Text 23"/>
          <p:cNvSpPr/>
          <p:nvPr/>
        </p:nvSpPr>
        <p:spPr>
          <a:xfrm>
            <a:off x="2231136" y="2249424"/>
            <a:ext cx="18013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8577"/>
                </a:solidFill>
              </a:rPr>
              <a:t>●  Forces</a:t>
            </a:r>
            <a:endParaRPr lang="en-US" sz="750" dirty="0"/>
          </a:p>
        </p:txBody>
      </p:sp>
      <p:graphicFrame>
        <p:nvGraphicFramePr>
          <p:cNvPr id="30" name="Chart 4" descr=""/>
          <p:cNvGraphicFramePr/>
          <p:nvPr/>
        </p:nvGraphicFramePr>
        <p:xfrm>
          <a:off x="2194560" y="2368296"/>
          <a:ext cx="1874520" cy="81381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1" name="Text 24"/>
          <p:cNvSpPr/>
          <p:nvPr/>
        </p:nvSpPr>
        <p:spPr>
          <a:xfrm>
            <a:off x="2231136" y="3227832"/>
            <a:ext cx="18013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B0F0"/>
                </a:solidFill>
              </a:rPr>
              <a:t>●  AFI</a:t>
            </a:r>
            <a:endParaRPr lang="en-US" sz="750" dirty="0"/>
          </a:p>
        </p:txBody>
      </p:sp>
      <p:graphicFrame>
        <p:nvGraphicFramePr>
          <p:cNvPr id="32" name="Chart 5" descr=""/>
          <p:cNvGraphicFramePr/>
          <p:nvPr/>
        </p:nvGraphicFramePr>
        <p:xfrm>
          <a:off x="2194560" y="3346704"/>
          <a:ext cx="1874520" cy="81381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33" name="Shape 25"/>
          <p:cNvSpPr/>
          <p:nvPr/>
        </p:nvSpPr>
        <p:spPr>
          <a:xfrm>
            <a:off x="4160520" y="1042416"/>
            <a:ext cx="1874520" cy="20116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4160520" y="1042416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Furnace (0 jumpers)</a:t>
            </a:r>
            <a:endParaRPr lang="en-US" sz="800" dirty="0"/>
          </a:p>
        </p:txBody>
      </p:sp>
      <p:sp>
        <p:nvSpPr>
          <p:cNvPr id="35" name="Text 27"/>
          <p:cNvSpPr/>
          <p:nvPr/>
        </p:nvSpPr>
        <p:spPr>
          <a:xfrm>
            <a:off x="4197096" y="1271016"/>
            <a:ext cx="18013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BFBFBF"/>
                </a:solidFill>
              </a:rPr>
              <a:t>●  Shortbranches</a:t>
            </a:r>
            <a:endParaRPr lang="en-US" sz="750" dirty="0"/>
          </a:p>
        </p:txBody>
      </p:sp>
      <p:graphicFrame>
        <p:nvGraphicFramePr>
          <p:cNvPr id="36" name="Chart 6" descr=""/>
          <p:cNvGraphicFramePr/>
          <p:nvPr/>
        </p:nvGraphicFramePr>
        <p:xfrm>
          <a:off x="4160520" y="1389888"/>
          <a:ext cx="1874520" cy="81381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37" name="Text 28"/>
          <p:cNvSpPr/>
          <p:nvPr/>
        </p:nvSpPr>
        <p:spPr>
          <a:xfrm>
            <a:off x="4197096" y="2249424"/>
            <a:ext cx="18013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8577"/>
                </a:solidFill>
              </a:rPr>
              <a:t>●  Forces</a:t>
            </a:r>
            <a:endParaRPr lang="en-US" sz="750" dirty="0"/>
          </a:p>
        </p:txBody>
      </p:sp>
      <p:graphicFrame>
        <p:nvGraphicFramePr>
          <p:cNvPr id="38" name="Chart 7" descr=""/>
          <p:cNvGraphicFramePr/>
          <p:nvPr/>
        </p:nvGraphicFramePr>
        <p:xfrm>
          <a:off x="4160520" y="2368296"/>
          <a:ext cx="1874520" cy="81381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39" name="Text 29"/>
          <p:cNvSpPr/>
          <p:nvPr/>
        </p:nvSpPr>
        <p:spPr>
          <a:xfrm>
            <a:off x="4197096" y="3227832"/>
            <a:ext cx="18013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B0F0"/>
                </a:solidFill>
              </a:rPr>
              <a:t>●  AFI</a:t>
            </a:r>
            <a:endParaRPr lang="en-US" sz="750" dirty="0"/>
          </a:p>
        </p:txBody>
      </p:sp>
      <p:graphicFrame>
        <p:nvGraphicFramePr>
          <p:cNvPr id="40" name="Chart 8" descr=""/>
          <p:cNvGraphicFramePr/>
          <p:nvPr/>
        </p:nvGraphicFramePr>
        <p:xfrm>
          <a:off x="4160520" y="3346704"/>
          <a:ext cx="1874520" cy="81381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9"/>
          </a:graphicData>
        </a:graphic>
      </p:graphicFrame>
      <p:sp>
        <p:nvSpPr>
          <p:cNvPr id="41" name="Shape 30"/>
          <p:cNvSpPr/>
          <p:nvPr/>
        </p:nvSpPr>
        <p:spPr>
          <a:xfrm>
            <a:off x="6126480" y="1042416"/>
            <a:ext cx="1874520" cy="20116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2" name="Text 31"/>
          <p:cNvSpPr/>
          <p:nvPr/>
        </p:nvSpPr>
        <p:spPr>
          <a:xfrm>
            <a:off x="6126480" y="1042416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Converter (0 jumpers)</a:t>
            </a:r>
            <a:endParaRPr lang="en-US" sz="800" dirty="0"/>
          </a:p>
        </p:txBody>
      </p:sp>
      <p:sp>
        <p:nvSpPr>
          <p:cNvPr id="43" name="Text 32"/>
          <p:cNvSpPr/>
          <p:nvPr/>
        </p:nvSpPr>
        <p:spPr>
          <a:xfrm>
            <a:off x="6163056" y="1271016"/>
            <a:ext cx="18013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BFBFBF"/>
                </a:solidFill>
              </a:rPr>
              <a:t>●  Shortbranches</a:t>
            </a:r>
            <a:endParaRPr lang="en-US" sz="750" dirty="0"/>
          </a:p>
        </p:txBody>
      </p:sp>
      <p:graphicFrame>
        <p:nvGraphicFramePr>
          <p:cNvPr id="44" name="Chart 9" descr=""/>
          <p:cNvGraphicFramePr/>
          <p:nvPr/>
        </p:nvGraphicFramePr>
        <p:xfrm>
          <a:off x="6126480" y="1389888"/>
          <a:ext cx="1874520" cy="81381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45" name="Text 33"/>
          <p:cNvSpPr/>
          <p:nvPr/>
        </p:nvSpPr>
        <p:spPr>
          <a:xfrm>
            <a:off x="6163056" y="2249424"/>
            <a:ext cx="18013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8577"/>
                </a:solidFill>
              </a:rPr>
              <a:t>●  Forces</a:t>
            </a:r>
            <a:endParaRPr lang="en-US" sz="750" dirty="0"/>
          </a:p>
        </p:txBody>
      </p:sp>
      <p:graphicFrame>
        <p:nvGraphicFramePr>
          <p:cNvPr id="46" name="Chart 10" descr=""/>
          <p:cNvGraphicFramePr/>
          <p:nvPr/>
        </p:nvGraphicFramePr>
        <p:xfrm>
          <a:off x="6126480" y="2368296"/>
          <a:ext cx="1874520" cy="81381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1"/>
          </a:graphicData>
        </a:graphic>
      </p:graphicFrame>
      <p:sp>
        <p:nvSpPr>
          <p:cNvPr id="47" name="Text 34"/>
          <p:cNvSpPr/>
          <p:nvPr/>
        </p:nvSpPr>
        <p:spPr>
          <a:xfrm>
            <a:off x="6163056" y="3227832"/>
            <a:ext cx="18013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B0F0"/>
                </a:solidFill>
              </a:rPr>
              <a:t>●  AFI</a:t>
            </a:r>
            <a:endParaRPr lang="en-US" sz="750" dirty="0"/>
          </a:p>
        </p:txBody>
      </p:sp>
      <p:graphicFrame>
        <p:nvGraphicFramePr>
          <p:cNvPr id="48" name="Chart 11" descr=""/>
          <p:cNvGraphicFramePr/>
          <p:nvPr/>
        </p:nvGraphicFramePr>
        <p:xfrm>
          <a:off x="6126480" y="3346704"/>
          <a:ext cx="1874520" cy="81381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2"/>
          </a:graphicData>
        </a:graphic>
      </p:graphicFrame>
      <p:sp>
        <p:nvSpPr>
          <p:cNvPr id="49" name="Shape 35"/>
          <p:cNvSpPr/>
          <p:nvPr/>
        </p:nvSpPr>
        <p:spPr>
          <a:xfrm>
            <a:off x="228600" y="4187952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36"/>
          <p:cNvSpPr/>
          <p:nvPr/>
        </p:nvSpPr>
        <p:spPr>
          <a:xfrm>
            <a:off x="320040" y="4224528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3A8A"/>
                </a:solidFill>
              </a:rPr>
              <a:t>Total Jumper with Authorized/MoC</a:t>
            </a:r>
            <a:endParaRPr lang="en-US" sz="750" dirty="0"/>
          </a:p>
        </p:txBody>
      </p:sp>
      <p:sp>
        <p:nvSpPr>
          <p:cNvPr id="51" name="Text 37"/>
          <p:cNvSpPr/>
          <p:nvPr/>
        </p:nvSpPr>
        <p:spPr>
          <a:xfrm>
            <a:off x="320040" y="43708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3</a:t>
            </a:r>
            <a:endParaRPr lang="en-US" sz="1400" dirty="0"/>
          </a:p>
        </p:txBody>
      </p:sp>
      <p:sp>
        <p:nvSpPr>
          <p:cNvPr id="52" name="Shape 38"/>
          <p:cNvSpPr/>
          <p:nvPr/>
        </p:nvSpPr>
        <p:spPr>
          <a:xfrm>
            <a:off x="4160520" y="4187952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3" name="Text 39"/>
          <p:cNvSpPr/>
          <p:nvPr/>
        </p:nvSpPr>
        <p:spPr>
          <a:xfrm>
            <a:off x="4251960" y="4224528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3A8A"/>
                </a:solidFill>
              </a:rPr>
              <a:t>Total Removed (W40, 2026)</a:t>
            </a:r>
            <a:endParaRPr lang="en-US" sz="750" dirty="0"/>
          </a:p>
        </p:txBody>
      </p:sp>
      <p:sp>
        <p:nvSpPr>
          <p:cNvPr id="54" name="Text 40"/>
          <p:cNvSpPr/>
          <p:nvPr/>
        </p:nvSpPr>
        <p:spPr>
          <a:xfrm>
            <a:off x="4251960" y="43708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0</a:t>
            </a:r>
            <a:endParaRPr lang="en-US" sz="1400" dirty="0"/>
          </a:p>
        </p:txBody>
      </p:sp>
      <p:sp>
        <p:nvSpPr>
          <p:cNvPr id="55" name="Text 41"/>
          <p:cNvSpPr/>
          <p:nvPr/>
        </p:nvSpPr>
        <p:spPr>
          <a:xfrm>
            <a:off x="228600" y="473659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Jumper Update Table</a:t>
            </a:r>
            <a:endParaRPr lang="en-US" sz="8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4919472"/>
          <a:ext cx="7772400" cy="1737360"/>
        </p:xfrm>
        <a:graphic>
          <a:graphicData uri="http://schemas.openxmlformats.org/drawingml/2006/table">
            <a:tbl>
              <a:tblPr/>
              <a:tblGrid>
                <a:gridCol w="822960"/>
                <a:gridCol w="3749040"/>
                <a:gridCol w="1097280"/>
                <a:gridCol w="822960"/>
                <a:gridCol w="1280160"/>
              </a:tblGrid>
              <a:tr h="2481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PLC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Update Jumper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Installed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Authorized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Due Date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D3C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Shortbranches installed on PLC D3C, FSL (Flow Switch Low) Feed conv. Dryer 3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Wk10 2026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Wk51 2026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D3C1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Shortbranches installed on PLC D3C MainFlame On Interlock to TR ESP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wk16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CMS1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Forces installed on PLC CMS1 Level HiHi Switch Surge Bin - Digital_Alarms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Re-installed wk27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Wk27 2026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Conveying Blower opr ready E4AM01 on PLC 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Wk39 2026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Conveying Blower opr ready H21M03 on PLC 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Wk39 2026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Conveying Blower opr ready H21M04 on PLC 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Wk39 2026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7" name="Shape 42"/>
          <p:cNvSpPr/>
          <p:nvPr/>
        </p:nvSpPr>
        <p:spPr>
          <a:xfrm>
            <a:off x="8183880" y="530352"/>
            <a:ext cx="3776472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8" name="Text 43"/>
          <p:cNvSpPr/>
          <p:nvPr/>
        </p:nvSpPr>
        <p:spPr>
          <a:xfrm>
            <a:off x="8293608" y="585216"/>
            <a:ext cx="35570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8A"/>
                </a:solidFill>
              </a:rPr>
              <a:t>Remaining Jumper List (3)</a:t>
            </a:r>
            <a:endParaRPr lang="en-US" sz="9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7032" y="786384"/>
          <a:ext cx="3630168" cy="2066544"/>
        </p:xfrm>
        <a:graphic>
          <a:graphicData uri="http://schemas.openxmlformats.org/drawingml/2006/table">
            <a:tbl>
              <a:tblPr/>
              <a:tblGrid>
                <a:gridCol w="292608"/>
                <a:gridCol w="658368"/>
                <a:gridCol w="566928"/>
                <a:gridCol w="2112264"/>
              </a:tblGrid>
              <a:tr h="516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1E293B"/>
                          </a:solidFill>
                        </a:rPr>
                        <a:t>No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1E293B"/>
                          </a:solidFill>
                        </a:rPr>
                        <a:t>ID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1E293B"/>
                          </a:solidFill>
                        </a:rPr>
                        <a:t>PLC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1E293B"/>
                          </a:solidFill>
                        </a:rPr>
                        <a:t>Description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166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6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000000"/>
                          </a:solidFill>
                        </a:rPr>
                        <a:t>J-004</a:t>
                      </a:r>
                      <a:endParaRPr lang="en-US" sz="6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Conveying Blower opr ready E4AM01 on PLC K2C</a:t>
                      </a:r>
                      <a:endParaRPr lang="en-US" sz="6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66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6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000000"/>
                          </a:solidFill>
                        </a:rPr>
                        <a:t>J-005</a:t>
                      </a:r>
                      <a:endParaRPr lang="en-US" sz="6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Conveying Blower opr ready H21M03 on PLC K2C</a:t>
                      </a:r>
                      <a:endParaRPr lang="en-US" sz="6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66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6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000000"/>
                          </a:solidFill>
                        </a:rPr>
                        <a:t>J-006</a:t>
                      </a:r>
                      <a:endParaRPr lang="en-US" sz="6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Conveying Blower opr ready H21M04 on PLC K2C</a:t>
                      </a:r>
                      <a:endParaRPr lang="en-US" sz="6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0" name="Shape 44"/>
          <p:cNvSpPr/>
          <p:nvPr/>
        </p:nvSpPr>
        <p:spPr>
          <a:xfrm>
            <a:off x="8183880" y="2999232"/>
            <a:ext cx="377647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1" name="Text 45"/>
          <p:cNvSpPr/>
          <p:nvPr/>
        </p:nvSpPr>
        <p:spPr>
          <a:xfrm>
            <a:off x="8293608" y="3054096"/>
            <a:ext cx="355701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Remaining PLC Ratio</a:t>
            </a:r>
            <a:endParaRPr lang="en-US" sz="800" dirty="0"/>
          </a:p>
        </p:txBody>
      </p:sp>
      <p:sp>
        <p:nvSpPr>
          <p:cNvPr id="62" name="Text 46"/>
          <p:cNvSpPr/>
          <p:nvPr/>
        </p:nvSpPr>
        <p:spPr>
          <a:xfrm>
            <a:off x="8293608" y="3218688"/>
            <a:ext cx="35570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4 / 69  (5.8%)</a:t>
            </a:r>
            <a:endParaRPr lang="en-US" sz="1500" dirty="0"/>
          </a:p>
        </p:txBody>
      </p:sp>
      <p:sp>
        <p:nvSpPr>
          <p:cNvPr id="63" name="Text 47"/>
          <p:cNvSpPr/>
          <p:nvPr/>
        </p:nvSpPr>
        <p:spPr>
          <a:xfrm>
            <a:off x="8293608" y="3547872"/>
            <a:ext cx="355701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PLC with active jumpers / Total PLC in Scope</a:t>
            </a:r>
            <a:endParaRPr lang="en-US" sz="720" dirty="0"/>
          </a:p>
        </p:txBody>
      </p:sp>
      <p:sp>
        <p:nvSpPr>
          <p:cNvPr id="64" name="Shape 48"/>
          <p:cNvSpPr/>
          <p:nvPr/>
        </p:nvSpPr>
        <p:spPr>
          <a:xfrm>
            <a:off x="8183880" y="3877056"/>
            <a:ext cx="3776472" cy="2816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5" name="Text 49"/>
          <p:cNvSpPr/>
          <p:nvPr/>
        </p:nvSpPr>
        <p:spPr>
          <a:xfrm>
            <a:off x="8293608" y="3931920"/>
            <a:ext cx="35570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Count of Remaining Jumper on PLC PP Area</a:t>
            </a:r>
            <a:endParaRPr lang="en-US" sz="800" dirty="0"/>
          </a:p>
        </p:txBody>
      </p:sp>
      <p:graphicFrame>
        <p:nvGraphicFramePr>
          <p:cNvPr id="66" name="Chart 12" descr=""/>
          <p:cNvGraphicFramePr/>
          <p:nvPr/>
        </p:nvGraphicFramePr>
        <p:xfrm>
          <a:off x="8257032" y="4133088"/>
          <a:ext cx="3630168" cy="24871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PPA Process Plant Area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PPA JUMPER AUDIT WEEK-40</dc:title>
  <dc:subject>PptxGenJS Presentation</dc:subject>
  <dc:creator>PPA Automation</dc:creator>
  <cp:lastModifiedBy>PPA Automation</cp:lastModifiedBy>
  <cp:revision>1</cp:revision>
  <dcterms:created xsi:type="dcterms:W3CDTF">2026-10-12T10:27:56Z</dcterms:created>
  <dcterms:modified xsi:type="dcterms:W3CDTF">2026-10-12T10:27:56Z</dcterms:modified>
</cp:coreProperties>
</file>